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80"/>
    <p:restoredTop sz="94573"/>
  </p:normalViewPr>
  <p:slideViewPr>
    <p:cSldViewPr snapToGrid="0">
      <p:cViewPr varScale="1">
        <p:scale>
          <a:sx n="105" d="100"/>
          <a:sy n="105" d="100"/>
        </p:scale>
        <p:origin x="22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501F5-6336-F148-944B-4B87CE031194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4EB022-8EC2-014A-AFA4-EB9E80BEE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82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4EB022-8EC2-014A-AFA4-EB9E80BEE1C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1131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4EB022-8EC2-014A-AFA4-EB9E80BEE1C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3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4EB022-8EC2-014A-AFA4-EB9E80BEE1C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451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4EB022-8EC2-014A-AFA4-EB9E80BEE1C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1792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4EB022-8EC2-014A-AFA4-EB9E80BEE1C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939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4EB022-8EC2-014A-AFA4-EB9E80BEE1C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357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6CAB1-E2F0-EE11-798F-A62EBE6EC5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0305CE-0022-E48D-3229-09122116B2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D53D9-9FC4-FD6D-869A-07F6D2E15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121B7-7491-EC9E-8E22-EA11EAD0A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4F1BA-37A2-8A39-EA0A-E54E21722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437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2BFD7-129C-EFBA-9E0A-54CD01405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FDC8F-2B30-E591-EB5D-9DAFC6BE5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537A8-54E7-8413-0A00-6638E9E85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FBB3C-C15C-3086-53C1-1434AD8DF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457AB-22FD-61B7-98D8-AC0806FA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154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A6AB-D883-9B89-83A7-4D64B9FA8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5C928-6877-006F-16C1-B92255954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8CCE3-1DE8-DEC7-246D-E32E6F97A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A5304-4186-DE96-3992-0B875CCF0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2B5F2-E955-BE2B-2CC5-74FB37003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553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8FCC2-B4C0-E61E-6D9A-46D0834DD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9FFAF-6787-5F89-EE99-039C3B52BE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ED09D-8977-89DE-A353-113AB6144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635E28-6569-C1B4-FE8C-5572C56F1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323C7-CE2E-0A57-7756-CFCD91D6D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1078C9-96A0-DBC0-1C3A-2C8F5D0FD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833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B9A16-656D-D591-F315-12B044005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8B9E0-5A85-2CAA-DAA7-07977B1A6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E2B906-BFAE-DA66-0662-817AF97C5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0E7E02-5CD9-A15B-ED59-DF7101C323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7398E4-915B-815F-9F91-81BAEF47CB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3FBBC6-C50D-BE78-A616-62CA615ED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C8F5-7B74-13C1-2E6C-6E3CE07B7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B9F17E-4D9B-1886-6BE1-686B87F73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376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8D4A7-BDF7-79D2-B048-A9E971674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8A8577-D44E-0407-A450-6EC9E0685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0D43C-BFB0-DD26-3691-2321B7CC6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290ED6-0A12-E874-AF8A-5E47BD15F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583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070415-C30C-C26F-584D-BB297F7F7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74F036-02A7-B152-E5F0-BC8CE3BE2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7123B-2796-4A75-6C44-E23A61C9B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832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C12EE-850E-F904-BBFC-BAD7F08B4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60886-D2EF-6A90-E41D-452B300F4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102DD6-55F6-68AE-866A-2BD5D22D1A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A3A2B9-E6B4-19C6-1583-CC5281EE8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C33394-2C82-CC97-07A9-14F7F0C06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11976-4923-B38B-4A34-10CA9A42A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31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A4E49-F796-2A28-C597-EEE938F76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BF2F2E-7A84-92B2-F21C-F6A47B1701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B82397-AF13-13C9-4A26-945DB1C629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71C213-3DA1-0B09-272A-F45BD2D2A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87EC3F-362C-07CF-86AF-0893468D4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46FF3E-4B6E-F99A-33B7-90E814A02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125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92ECD-0D2C-5F50-FA79-E481535C9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597EC9-3D64-76CF-4584-97CF64C92C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4C24C-DA34-B51A-5E1D-AFAE578B5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38B24-281F-A259-D8A3-EE5C5D0F5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B3804-9E16-EFE0-6AC5-1123FF0F3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851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C4D124-EAB1-0C35-24E3-BE815C4F7D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01F2D5-5705-237E-43DC-0BF9C99D9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BF1B1-5701-153D-ACFC-381B83B9E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5D7C3-9422-7B52-435F-646DDCA6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C9E94-B998-3222-CEDF-A00E34C6C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281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35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60B8DB-B614-7DBE-D4A6-88FBA6031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DD4F0-5037-6260-3207-454758B51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24A62-F42E-8A74-F3CA-C1D3A4ABDE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0297D-DDC8-7618-CA38-0B02B7152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4BC6B-481C-2AFA-2EA8-35E9D5F669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144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A9040-4C25-DAC1-11CC-9E115AC575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Electric Production Trends and Seasonal Analysis (1985-2018)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B3CC35-8765-4703-498E-6AACD6A379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Presented by</a:t>
            </a:r>
          </a:p>
          <a:p>
            <a:r>
              <a:rPr lang="en-US" dirty="0" err="1">
                <a:solidFill>
                  <a:schemeClr val="bg1"/>
                </a:solidFill>
              </a:rPr>
              <a:t>Pappula</a:t>
            </a:r>
            <a:r>
              <a:rPr lang="en-US" dirty="0">
                <a:solidFill>
                  <a:schemeClr val="bg1"/>
                </a:solidFill>
              </a:rPr>
              <a:t> Madhusudhan </a:t>
            </a:r>
            <a:r>
              <a:rPr lang="en-US" dirty="0" err="1">
                <a:solidFill>
                  <a:schemeClr val="bg1"/>
                </a:solidFill>
              </a:rPr>
              <a:t>reddy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66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AF6CB-1D79-85E0-BC4E-ECC7CA08A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A97EE-C3A6-BCFE-1E25-EA80D127527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817370"/>
            <a:ext cx="10363826" cy="41770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cap="none" dirty="0">
                <a:solidFill>
                  <a:schemeClr val="bg1"/>
                </a:solidFill>
              </a:rPr>
              <a:t>Source: </a:t>
            </a:r>
            <a:r>
              <a:rPr lang="en-US" cap="none" dirty="0" err="1">
                <a:solidFill>
                  <a:schemeClr val="bg1"/>
                </a:solidFill>
              </a:rPr>
              <a:t>Electric_Production.csv</a:t>
            </a:r>
            <a:endParaRPr lang="en-US" cap="none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cap="none" dirty="0">
                <a:solidFill>
                  <a:schemeClr val="bg1"/>
                </a:solidFill>
              </a:rPr>
              <a:t>Time range: 1985-2018</a:t>
            </a:r>
          </a:p>
          <a:p>
            <a:pPr marL="0" indent="0">
              <a:buNone/>
            </a:pPr>
            <a:r>
              <a:rPr lang="en-US" cap="none" dirty="0">
                <a:solidFill>
                  <a:schemeClr val="bg1"/>
                </a:solidFill>
              </a:rPr>
              <a:t>Frequency: Monthly observations</a:t>
            </a:r>
          </a:p>
          <a:p>
            <a:pPr marL="0" indent="0">
              <a:buNone/>
            </a:pPr>
            <a:r>
              <a:rPr lang="en-US" cap="none" dirty="0">
                <a:solidFill>
                  <a:schemeClr val="bg1"/>
                </a:solidFill>
              </a:rPr>
              <a:t>Variable:</a:t>
            </a:r>
          </a:p>
          <a:p>
            <a:pPr lvl="1"/>
            <a:r>
              <a:rPr lang="en-US" cap="none" dirty="0">
                <a:solidFill>
                  <a:schemeClr val="bg1"/>
                </a:solidFill>
              </a:rPr>
              <a:t>Date</a:t>
            </a:r>
          </a:p>
          <a:p>
            <a:pPr lvl="1"/>
            <a:r>
              <a:rPr lang="en-US" cap="none" dirty="0">
                <a:solidFill>
                  <a:schemeClr val="bg1"/>
                </a:solidFill>
              </a:rPr>
              <a:t>Electric Production Index</a:t>
            </a:r>
          </a:p>
          <a:p>
            <a:pPr marL="0" indent="0">
              <a:buNone/>
            </a:pPr>
            <a:r>
              <a:rPr lang="en-US" cap="none" dirty="0">
                <a:solidFill>
                  <a:schemeClr val="bg1"/>
                </a:solidFill>
              </a:rPr>
              <a:t>The dataset contains monthly electric production index values over a 34-year period, allowing for long-term trend and seasonal pattern analysis.</a:t>
            </a:r>
          </a:p>
        </p:txBody>
      </p:sp>
    </p:spTree>
    <p:extLst>
      <p:ext uri="{BB962C8B-B14F-4D97-AF65-F5344CB8AC3E}">
        <p14:creationId xmlns:p14="http://schemas.microsoft.com/office/powerpoint/2010/main" val="2647791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E0FE5-C960-3662-B244-C3CF73506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31" y="546007"/>
            <a:ext cx="3077599" cy="363737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LONG-TERM PRODUCTION GROWTH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DAB77E9-C900-23C6-96A5-42DA95BBFF2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 rotWithShape="1">
          <a:blip r:embed="rId3"/>
          <a:srcRect l="-17" r="-17"/>
          <a:stretch>
            <a:fillRect/>
          </a:stretch>
        </p:blipFill>
        <p:spPr>
          <a:xfrm>
            <a:off x="3326130" y="546007"/>
            <a:ext cx="8392628" cy="5873215"/>
          </a:xfrm>
          <a:prstGeom prst="roundRect">
            <a:avLst>
              <a:gd name="adj" fmla="val 5301"/>
            </a:avLst>
          </a:prstGeom>
          <a:solidFill>
            <a:schemeClr val="bg1"/>
          </a:solidFill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157791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19A81E-3D7E-6A44-09D5-0145F1943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274320"/>
            <a:ext cx="11425254" cy="4994909"/>
          </a:xfrm>
          <a:prstGeom prst="roundRect">
            <a:avLst>
              <a:gd name="adj" fmla="val 530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419E59-4270-7CE3-8239-8BAC1141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817" y="5557265"/>
            <a:ext cx="10916365" cy="113755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</a:rPr>
              <a:t>MONTHLY PRODUCTION VS 12-MONTH MOVING AVERAGE</a:t>
            </a:r>
          </a:p>
        </p:txBody>
      </p:sp>
    </p:spTree>
    <p:extLst>
      <p:ext uri="{BB962C8B-B14F-4D97-AF65-F5344CB8AC3E}">
        <p14:creationId xmlns:p14="http://schemas.microsoft.com/office/powerpoint/2010/main" val="1038901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C29A7F-2899-B484-C9B9-EFACDE8C42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9" r="-19"/>
          <a:stretch>
            <a:fillRect/>
          </a:stretch>
        </p:blipFill>
        <p:spPr>
          <a:xfrm>
            <a:off x="553453" y="1636295"/>
            <a:ext cx="10924673" cy="4796409"/>
          </a:xfrm>
          <a:prstGeom prst="roundRect">
            <a:avLst>
              <a:gd name="adj" fmla="val 530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158903-C1A1-E996-E78C-6B620E880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641" y="305025"/>
            <a:ext cx="11661433" cy="9708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SEASONAL PRODUCTION PATTERNS</a:t>
            </a:r>
          </a:p>
        </p:txBody>
      </p:sp>
    </p:spTree>
    <p:extLst>
      <p:ext uri="{BB962C8B-B14F-4D97-AF65-F5344CB8AC3E}">
        <p14:creationId xmlns:p14="http://schemas.microsoft.com/office/powerpoint/2010/main" val="3545093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EEFE3-580D-3ECD-4189-B4816A2E9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94194"/>
          </a:xfrm>
        </p:spPr>
        <p:txBody>
          <a:bodyPr/>
          <a:lstStyle/>
          <a:p>
            <a:r>
              <a:rPr lang="en-US" b="1">
                <a:solidFill>
                  <a:schemeClr val="bg1"/>
                </a:solidFill>
              </a:rPr>
              <a:t>KEY TAKEAWAYS </a:t>
            </a:r>
            <a:r>
              <a:rPr lang="en-US" b="1" dirty="0">
                <a:solidFill>
                  <a:schemeClr val="bg1"/>
                </a:solidFill>
              </a:rPr>
              <a:t>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0BC4A-897E-073E-7996-44588535EA0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512712"/>
            <a:ext cx="10363826" cy="486522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chemeClr val="bg1"/>
                </a:solidFill>
              </a:rPr>
              <a:t>KEY TAKEAWAYS:</a:t>
            </a:r>
          </a:p>
          <a:p>
            <a:r>
              <a:rPr lang="en-US" dirty="0">
                <a:solidFill>
                  <a:schemeClr val="bg1"/>
                </a:solidFill>
              </a:rPr>
              <a:t>Production increased from ~60 (1985) to ~110+ (2018), nearly doubling over 34 years</a:t>
            </a:r>
            <a:r>
              <a:rPr lang="en-US" cap="none" dirty="0">
                <a:solidFill>
                  <a:schemeClr val="bg1"/>
                </a:solidFill>
              </a:rPr>
              <a:t>.</a:t>
            </a:r>
          </a:p>
          <a:p>
            <a:r>
              <a:rPr lang="en-US" dirty="0">
                <a:solidFill>
                  <a:schemeClr val="bg1"/>
                </a:solidFill>
              </a:rPr>
              <a:t>Growth slowed significantly after 2008, with a flatter 12-month moving average trend</a:t>
            </a:r>
            <a:r>
              <a:rPr lang="en-US" cap="none" dirty="0">
                <a:solidFill>
                  <a:schemeClr val="bg1"/>
                </a:solidFill>
              </a:rPr>
              <a:t>.</a:t>
            </a:r>
          </a:p>
          <a:p>
            <a:r>
              <a:rPr lang="en-US" cap="none" dirty="0">
                <a:solidFill>
                  <a:schemeClr val="bg1"/>
                </a:solidFill>
              </a:rPr>
              <a:t>Production consistently peaks mid-year (July-Aug) and declines in early-year months (Jan-Feb).</a:t>
            </a:r>
          </a:p>
          <a:p>
            <a:r>
              <a:rPr lang="en-US" cap="none" dirty="0">
                <a:solidFill>
                  <a:schemeClr val="bg1"/>
                </a:solidFill>
              </a:rPr>
              <a:t>Seasonal Variation avg approx. 15-20 index points between peak and trough months.</a:t>
            </a:r>
          </a:p>
          <a:p>
            <a:pPr marL="0" indent="0">
              <a:buNone/>
            </a:pPr>
            <a:r>
              <a:rPr lang="en-US" sz="3300" b="1" cap="none" dirty="0">
                <a:solidFill>
                  <a:schemeClr val="bg1"/>
                </a:solidFill>
              </a:rPr>
              <a:t>RECOMMENDATIONS:</a:t>
            </a:r>
          </a:p>
          <a:p>
            <a:r>
              <a:rPr lang="en-US" dirty="0">
                <a:solidFill>
                  <a:schemeClr val="bg1"/>
                </a:solidFill>
              </a:rPr>
              <a:t>Increase reserve generation capacity during peak summer months.</a:t>
            </a:r>
          </a:p>
          <a:p>
            <a:r>
              <a:rPr lang="en-US" dirty="0">
                <a:solidFill>
                  <a:schemeClr val="bg1"/>
                </a:solidFill>
              </a:rPr>
              <a:t>Use seasonal forecasting models (e.g., ARIMA) for load planning.</a:t>
            </a:r>
          </a:p>
          <a:p>
            <a:r>
              <a:rPr lang="en-US" dirty="0">
                <a:solidFill>
                  <a:schemeClr val="bg1"/>
                </a:solidFill>
              </a:rPr>
              <a:t>Monitor structural demand changes post-2008 to adjust long-term infrastructure investment.</a:t>
            </a:r>
            <a:endParaRPr lang="en-US" cap="non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428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B3254-3E9F-7072-DA60-FAEAE6D8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LIMITATIONS &amp;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AF269-C21E-85A3-D1A3-BC331CE28E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440180"/>
            <a:ext cx="10363826" cy="435101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cap="none" dirty="0">
                <a:solidFill>
                  <a:schemeClr val="bg1"/>
                </a:solidFill>
              </a:rPr>
              <a:t>LIMITATIONS:</a:t>
            </a:r>
          </a:p>
          <a:p>
            <a:r>
              <a:rPr lang="en-US" sz="2600" cap="none" dirty="0">
                <a:solidFill>
                  <a:schemeClr val="bg1"/>
                </a:solidFill>
              </a:rPr>
              <a:t>No regional breakdown.</a:t>
            </a:r>
          </a:p>
          <a:p>
            <a:r>
              <a:rPr lang="en-US" sz="2600" cap="none" dirty="0">
                <a:solidFill>
                  <a:schemeClr val="bg1"/>
                </a:solidFill>
              </a:rPr>
              <a:t>No weather or fuel cost variables.</a:t>
            </a:r>
          </a:p>
          <a:p>
            <a:r>
              <a:rPr lang="en-US" sz="2600" cap="none" dirty="0">
                <a:solidFill>
                  <a:schemeClr val="bg1"/>
                </a:solidFill>
              </a:rPr>
              <a:t>Index-based measurement (not absolute production).</a:t>
            </a:r>
          </a:p>
          <a:p>
            <a:r>
              <a:rPr lang="en-US" sz="2600" dirty="0">
                <a:solidFill>
                  <a:schemeClr val="bg1"/>
                </a:solidFill>
              </a:rPr>
              <a:t>Seasonal pattern assumed consistent nationally (no regional validation)</a:t>
            </a:r>
            <a:endParaRPr lang="en-US" sz="2600" cap="none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3000" dirty="0">
                <a:solidFill>
                  <a:schemeClr val="bg1"/>
                </a:solidFill>
              </a:rPr>
              <a:t>REFERENCES: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600" dirty="0" err="1">
                <a:solidFill>
                  <a:schemeClr val="bg1"/>
                </a:solidFill>
              </a:rPr>
              <a:t>Electric_Production.csv</a:t>
            </a:r>
            <a:r>
              <a:rPr lang="en-US" altLang="en-US" sz="2600" dirty="0">
                <a:solidFill>
                  <a:schemeClr val="bg1"/>
                </a:solidFill>
              </a:rPr>
              <a:t>. (2026). MIS7397 Course Dataset. Provided by course instructor.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600" dirty="0">
                <a:solidFill>
                  <a:schemeClr val="bg1"/>
                </a:solidFill>
              </a:rPr>
              <a:t>Tableau Software, LLC. (2025). </a:t>
            </a:r>
            <a:r>
              <a:rPr lang="en-US" altLang="en-US" sz="2600" i="1" dirty="0">
                <a:solidFill>
                  <a:schemeClr val="bg1"/>
                </a:solidFill>
              </a:rPr>
              <a:t>Tableau Desktop Professional Edition (Version 2025.3.3; Mac with Apple silicon).</a:t>
            </a:r>
            <a:r>
              <a:rPr lang="en-US" altLang="en-US" sz="2600" dirty="0">
                <a:solidFill>
                  <a:schemeClr val="bg1"/>
                </a:solidFill>
              </a:rPr>
              <a:t>Salesforce, Inc.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600" dirty="0">
                <a:solidFill>
                  <a:schemeClr val="bg1"/>
                </a:solidFill>
              </a:rPr>
              <a:t>MIS7397 Course Materials. (2026). University course resources.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5D98677-DE2E-664B-AE9D-2AAAA9435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291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</TotalTime>
  <Words>274</Words>
  <Application>Microsoft Macintosh PowerPoint</Application>
  <PresentationFormat>Widescreen</PresentationFormat>
  <Paragraphs>40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Electric Production Trends and Seasonal Analysis (1985-2018)</vt:lpstr>
      <vt:lpstr>Dataset Overview</vt:lpstr>
      <vt:lpstr>LONG-TERM PRODUCTION GROWTH</vt:lpstr>
      <vt:lpstr>MONTHLY PRODUCTION VS 12-MONTH MOVING AVERAGE</vt:lpstr>
      <vt:lpstr>SEASONAL PRODUCTION PATTERNS</vt:lpstr>
      <vt:lpstr>KEY TAKEAWAYS &amp; RECOMMENDATIONS</vt:lpstr>
      <vt:lpstr>LIMITATIONS &amp;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Pappula, Madhusudhan Reddy</dc:creator>
  <cp:lastModifiedBy>Pappula, Madhusudhan Reddy</cp:lastModifiedBy>
  <cp:revision>15</cp:revision>
  <dcterms:created xsi:type="dcterms:W3CDTF">2026-02-13T21:48:26Z</dcterms:created>
  <dcterms:modified xsi:type="dcterms:W3CDTF">2026-05-01T21:28:52Z</dcterms:modified>
</cp:coreProperties>
</file>