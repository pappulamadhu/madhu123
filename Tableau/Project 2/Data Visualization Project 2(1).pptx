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7"/>
    <p:restoredTop sz="96035"/>
  </p:normalViewPr>
  <p:slideViewPr>
    <p:cSldViewPr snapToGrid="0">
      <p:cViewPr varScale="1">
        <p:scale>
          <a:sx n="117" d="100"/>
          <a:sy n="117" d="100"/>
        </p:scale>
        <p:origin x="19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6E920-B7AB-CA4A-82EC-6E43AA5B0757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79641-ACB2-C643-B4B8-5D36BE9D3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4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8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07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82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50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72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3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79641-ACB2-C643-B4B8-5D36BE9D3B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59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128FA71-3A18-48C0-980F-4B68F7F63042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2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9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9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009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9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5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756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26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36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52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370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707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75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104EDB3-C0E8-45F8-9E1D-1B6C8D1880C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07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CF0EC4B-54ED-4041-B552-9BA760FA3DBA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9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hyperlink" Target="https://www.kaggle.com/datasets/shreyasur965/recent-earthquakes?select=earthquakes.cs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pping Global Earthquakes and Hurricane tracks with R – Disaster Analytics  for Society Lab @NTU">
            <a:extLst>
              <a:ext uri="{FF2B5EF4-FFF2-40B4-BE49-F238E27FC236}">
                <a16:creationId xmlns:a16="http://schemas.microsoft.com/office/drawing/2014/main" id="{D8A169AB-2E84-FE1F-6CBC-12EA85E08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B65E6B8-0D17-4912-97E4-60B47A511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6104978" y="1295400"/>
            <a:ext cx="4936635" cy="37736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D0215C-1745-E9B0-A65B-24A21B3E4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5339" y="1447800"/>
            <a:ext cx="4562452" cy="2154568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dirty="0">
                <a:solidFill>
                  <a:schemeClr val="tx1"/>
                </a:solidFill>
                <a:latin typeface="Algerian" pitchFamily="82" charset="77"/>
              </a:rPr>
              <a:t>GLOBAL EARTHQUAKE ANALYSIS (1995 -2023)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9B405-07DF-B21D-198F-80D579728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5339" y="3834352"/>
            <a:ext cx="4562452" cy="93762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 err="1">
                <a:solidFill>
                  <a:schemeClr val="tx1"/>
                </a:solidFill>
              </a:rPr>
              <a:t>Pappula</a:t>
            </a:r>
            <a:r>
              <a:rPr lang="en-US" sz="1400" dirty="0">
                <a:solidFill>
                  <a:schemeClr val="tx1"/>
                </a:solidFill>
              </a:rPr>
              <a:t> Madhusudhan Reddy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MIS 7397 Data Visualization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Apr 12,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98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FDF45F-0A0E-3DC8-CDC7-61FAA951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3200" dirty="0">
                <a:solidFill>
                  <a:schemeClr val="tx1"/>
                </a:solidFill>
              </a:rPr>
              <a:t>DATA OVERVIEW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26BBA-5C50-7217-03E5-7866E252B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424" y="1059025"/>
            <a:ext cx="5302189" cy="4739950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CONTENT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Source:  </a:t>
            </a:r>
            <a:r>
              <a:rPr lang="en-US" dirty="0">
                <a:solidFill>
                  <a:schemeClr val="tx1"/>
                </a:solidFill>
              </a:rPr>
              <a:t>Earthquake Dataset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Time: </a:t>
            </a:r>
            <a:r>
              <a:rPr lang="en-US" dirty="0">
                <a:solidFill>
                  <a:schemeClr val="tx1"/>
                </a:solidFill>
              </a:rPr>
              <a:t>1995 – 2023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Key Fields: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Date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Magnitude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Depth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Country Location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</a:rPr>
              <a:t>Purpose of Analysis</a:t>
            </a:r>
          </a:p>
          <a:p>
            <a:pPr marL="4572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  To evaluate how earthquake activity evolves over time</a:t>
            </a:r>
          </a:p>
          <a:p>
            <a:pPr marL="4572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  To identify geographic concentration of seismic risk</a:t>
            </a:r>
          </a:p>
          <a:p>
            <a:pPr marL="4572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  To examine whether frequent earthquake regions are also exposed to higher severity events</a:t>
            </a:r>
          </a:p>
          <a:p>
            <a:pPr marL="457200" lvl="2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78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/>
      <p:bldP spid="2" grpId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ACF0-05C7-6385-CAA6-3289C24C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EARTHQUAKE FREQENCY OVER TIME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54D8EF7E-30FA-48EB-A2E2-6C7DAE2D24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628" b="628"/>
          <a:stretch>
            <a:fillRect/>
          </a:stretch>
        </p:blipFill>
        <p:spPr>
          <a:xfrm>
            <a:off x="633999" y="1055591"/>
            <a:ext cx="6882269" cy="475707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776DF-40B8-98EF-053D-85708B475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6351" y="2121408"/>
            <a:ext cx="3544034" cy="4050792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600" b="1">
                <a:solidFill>
                  <a:schemeClr val="tx1"/>
                </a:solidFill>
              </a:rPr>
              <a:t>INSIGHTS:</a:t>
            </a:r>
            <a:endParaRPr lang="en-US" altLang="en-US" sz="1600" b="1">
              <a:solidFill>
                <a:schemeClr val="tx1"/>
              </a:solidFill>
            </a:endParaRPr>
          </a:p>
          <a:p>
            <a:pPr marL="285750" lvl="0" indent="-1828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>
                <a:solidFill>
                  <a:schemeClr val="tx1"/>
                </a:solidFill>
              </a:rPr>
              <a:t>Earthquake frequency shows a statistically significant upward trend</a:t>
            </a:r>
          </a:p>
          <a:p>
            <a:pPr marL="285750" lvl="0" indent="-1828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>
                <a:solidFill>
                  <a:schemeClr val="tx1"/>
                </a:solidFill>
              </a:rPr>
              <a:t>R² ≈ 0.27 shows weak explanatory power (trend exists but variability dominates)</a:t>
            </a:r>
          </a:p>
          <a:p>
            <a:pPr marL="285750" lvl="0" indent="-1828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>
                <a:solidFill>
                  <a:schemeClr val="tx1"/>
                </a:solidFill>
              </a:rPr>
              <a:t>p-value &lt; 0.01 shows trend is statistically significant</a:t>
            </a:r>
          </a:p>
          <a:p>
            <a:pPr marL="285750" lvl="0" indent="-1828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>
                <a:solidFill>
                  <a:schemeClr val="tx1"/>
                </a:solidFill>
              </a:rPr>
              <a:t>Forecast indicates stabilization around ~39 events/year</a:t>
            </a:r>
          </a:p>
          <a:p>
            <a:pPr marL="28575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2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4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128074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Freeform: Shape 27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58392"/>
            <a:ext cx="12192000" cy="3033446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EEB9EB0-DCD2-C6E7-47EF-D56E5A30832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7085" y="466162"/>
            <a:ext cx="11237832" cy="3937502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3977C2-E186-9198-749B-1EE8D24A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4110824"/>
            <a:ext cx="5015258" cy="1908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>
                <a:solidFill>
                  <a:schemeClr val="tx1"/>
                </a:solidFill>
              </a:rPr>
              <a:t>GLOBAL EARTHQUAKES BY MAGNITUDE AND DEPTH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DF789-1E97-188D-DAA2-037DE2C3A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5894" y="4110824"/>
            <a:ext cx="4772509" cy="1908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chemeClr val="tx1"/>
                </a:solidFill>
              </a:rPr>
              <a:t>INSIGHTS:</a:t>
            </a:r>
          </a:p>
          <a:p>
            <a:pPr marL="285750" indent="-182880"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chemeClr val="tx1"/>
                </a:solidFill>
              </a:rPr>
              <a:t>Earthquakes are highly clustered geographically, not random</a:t>
            </a:r>
          </a:p>
          <a:p>
            <a:pPr marL="285750" indent="-182880"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chemeClr val="tx1"/>
                </a:solidFill>
              </a:rPr>
              <a:t>Strong concentration along tectonic boundaries (Ring of Fire)</a:t>
            </a:r>
          </a:p>
          <a:p>
            <a:pPr marL="285750" indent="-182880"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chemeClr val="tx1"/>
                </a:solidFill>
              </a:rPr>
              <a:t>Depth variation indicates different seismic mechanisms within same regions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121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2" grpId="0"/>
      <p:bldP spid="4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60AA-1D74-6682-4A4B-296842E1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09" y="1033611"/>
            <a:ext cx="4916424" cy="13533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Earthquake Risk: Frequency vs Severity</a:t>
            </a:r>
            <a:br>
              <a:rPr lang="en-US" dirty="0"/>
            </a:b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40572C-E256-BF91-BB0D-53504D3F1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6433" y="2423160"/>
            <a:ext cx="4401307" cy="27245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INSIGHTS: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0000"/>
                </a:solidFill>
              </a:rPr>
              <a:t>Earthquake activity is concentrated in few countries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0000"/>
                </a:solidFill>
              </a:rPr>
              <a:t>These regions also show higher maximum magnitudes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0000"/>
                </a:solidFill>
              </a:rPr>
              <a:t>Strong nonlinear relationship (R² ≈ 0.82, p &lt; 0.0001)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rgbClr val="000000"/>
                </a:solidFill>
              </a:rPr>
              <a:t>Indicates high-frequency zones carry elevated seismic risk</a:t>
            </a:r>
            <a:endParaRPr lang="en-US" alt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685069-4283-7A80-8B85-A1560F4266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76623" y="587023"/>
            <a:ext cx="5328356" cy="328067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637B2-34F7-5FF3-BB2B-F51FDC909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422" y="4076082"/>
            <a:ext cx="4842934" cy="2341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735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DB60F-7E02-5263-9699-AEAF3541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EBEBEB"/>
                </a:solidFill>
              </a:rPr>
              <a:t>KEY TAKEWAYS &amp;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F4A02D-CD01-22ED-392D-B8AD81950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077" y="437513"/>
            <a:ext cx="5502614" cy="5954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KEY TAKEAWAYS: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Earthquake activity is structurally concentrated in tectonically active regions rather than globally distributed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Temporal analysis shows an increase in frequency, but with persistent unpredictability due to high variability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Risk is defined by the interaction of frequency and severity, not by either dimension alone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High-frequency regions demonstrate greater exposure to extreme magnitude events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Effective understanding of earthquake risk requires integrated temporal, spatial, and severity analysis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endParaRPr lang="en-US" altLang="en-US" sz="1400" dirty="0"/>
          </a:p>
          <a:p>
            <a:pPr marL="0" lv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 dirty="0"/>
              <a:t>RECOMMENDATIONS: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 sz="1400" dirty="0"/>
              <a:t>Prioritize monitoring and preparedness in regions with both high frequency and high severity exposure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 sz="1400" dirty="0"/>
              <a:t>Develop strategies that address both recurring moderate events and rare high-impact events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 sz="1400" dirty="0"/>
              <a:t>Utilize nonlinear modeling approaches to better capture complex seismic relationships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 sz="1400" dirty="0"/>
              <a:t>Strengthen early warning systems and infrastructure resilience in high-risk zones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0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5E21-6FDD-8FA1-E6BA-A631D787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91822"/>
            <a:ext cx="10653578" cy="6610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LIMITATIONS &amp; REFERENCE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148EEA-B14C-DC99-A80B-4B346C5B17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719786"/>
            <a:ext cx="1041451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solidFill>
                  <a:srgbClr val="000000"/>
                </a:solidFill>
              </a:rPr>
              <a:t>LIMITATIONS: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Country-level aggregation may mask localized seismic variations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Dataset limited to 1995–2023, restricting long-term geological interpretation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Forecasting assumes continuation of historical trends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Analysis does not incorporate tectonic plate data or subsurface geological variables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lang="en-US" altLang="en-US" sz="1800" b="1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REFERENCE: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800" dirty="0">
                <a:hlinkClick r:id="rId4"/>
              </a:rPr>
              <a:t>https://www.kaggle.com/datasets/shreyasur965/recent-earthquakes?select=earthquakes.csv</a:t>
            </a:r>
            <a:endParaRPr lang="en-US" altLang="en-US" sz="18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800" dirty="0"/>
              <a:t>Tableau Desktop 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587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5|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.6|13.4|4.2|1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|3.4|4|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0.1|24.6|1.5|1.9|1.4|3.1|2.1|0.9|0.7|0.6|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3.2|8.4|4|5.7|1.2|4.5|1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169</TotalTime>
  <Words>387</Words>
  <Application>Microsoft Macintosh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Aptos</vt:lpstr>
      <vt:lpstr>Arial</vt:lpstr>
      <vt:lpstr>Century Gothic</vt:lpstr>
      <vt:lpstr>Courier New</vt:lpstr>
      <vt:lpstr>Wingdings</vt:lpstr>
      <vt:lpstr>Wingdings 3</vt:lpstr>
      <vt:lpstr>Ion Boardroom</vt:lpstr>
      <vt:lpstr>GLOBAL EARTHQUAKE ANALYSIS (1995 -2023)</vt:lpstr>
      <vt:lpstr>DATA OVERVIEW</vt:lpstr>
      <vt:lpstr>EARTHQUAKE FREQENCY OVER TIME</vt:lpstr>
      <vt:lpstr>GLOBAL EARTHQUAKES BY MAGNITUDE AND DEPTH</vt:lpstr>
      <vt:lpstr>Earthquake Risk: Frequency vs Severity </vt:lpstr>
      <vt:lpstr>KEY TAKEWAYS &amp; RECOMMENDATIONS</vt:lpstr>
      <vt:lpstr>LIMITATIONS &amp;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Pappula, Madhusudhan Reddy</dc:creator>
  <cp:lastModifiedBy>Pappula, Madhusudhan Reddy</cp:lastModifiedBy>
  <cp:revision>10</cp:revision>
  <dcterms:created xsi:type="dcterms:W3CDTF">2026-04-12T17:26:25Z</dcterms:created>
  <dcterms:modified xsi:type="dcterms:W3CDTF">2026-05-01T21:25:40Z</dcterms:modified>
</cp:coreProperties>
</file>