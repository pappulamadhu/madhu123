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6"/>
  </p:normalViewPr>
  <p:slideViewPr>
    <p:cSldViewPr snapToGrid="0">
      <p:cViewPr varScale="1">
        <p:scale>
          <a:sx n="112" d="100"/>
          <a:sy n="11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DBA04-C66D-D785-2654-7432B8F72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DC5C1-3A46-46B1-5B18-29B2861AF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63493-A24E-E0B0-10C3-6B9EF809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56B6-7152-03AF-6DF4-367721B0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D40C-6564-59F3-56D1-DB604BDA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2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DE47-8DCB-68D2-46AD-5E180E88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7E8A-0512-4BC8-9376-9E064B29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E725-DA6C-4AB8-0C62-251AE7AF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7448-CC9A-4742-E217-CF078217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5A3D-EAF3-EFCF-BF23-F55090E2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E09D-EE04-4F2B-13BB-0C77E0E0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7FE39-4817-461C-07B8-0C7839F06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99DF6-B22C-4101-2636-A2B5D555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4011-5B8F-CDBB-2183-AFEDFC4C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71B9-5A90-C6AD-4B59-3125C002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8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70FC-4DED-0E13-B534-302F035C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166E7-23E5-07BB-007F-3DD2B0A80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2BCF0-E1AF-8155-711A-8B10CA94F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95924-A3F4-17CF-BDF3-28B48D4A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91A7F-0AA0-DE46-4B48-3A9F68DB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15AF-7490-0DDA-B218-C23FEF0F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4A7C-2D39-B0E8-0ED6-027AA06B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53DA6-5D75-C70E-5722-44DA114D1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C4D30-8690-F88E-5F09-0747EC872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562DE-4B56-DC3D-D4CB-2CE614282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7CACA-C440-FAAF-9C0C-1FD28D76B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9A483A-D648-2BD7-1227-C3328CDD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2E46C-92EA-4E67-74DE-F0B94226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A7326-2D87-FD83-3EE7-F67F96D8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9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6155-CC64-5328-FDF9-28510D27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84904-D56B-8F70-CDD8-6C07246A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C628-8575-6EEA-3554-110D9104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09699-6565-8534-23B9-B0E92FE8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1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B47E83-8615-8AC7-4C11-183086A5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9CC17-82EB-65EC-F6E1-71AB22601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79665-3C41-814B-EC82-3BE99AF6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1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FDB7-26C5-53AF-53B8-7D6C72B3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10ED4-CA60-FD34-CCC2-962576113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F8647-3A2A-4F1A-8716-DF7537AA1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0CAA0-0A7F-BDB1-F5E5-29A8F773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36B53-9C59-6254-2EB3-187BF94D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F14B7-8D05-5728-4F5F-417C29D1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8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A741-BDD4-4895-AC85-1B0E33A6F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DDA5F-D78C-D6C8-F30D-422DDAF91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18C7E-C24F-F850-97BC-D8F9AF8AB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4CA95-A0C1-1F84-5BDF-42A6443E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C900E-CFA1-711F-B5A9-04255CFD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487EA-C3E9-AD90-89F8-CCE35E50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7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71F7-C7D9-4943-52D8-49F2F81B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ADDC5-2D70-CA48-EA23-3BDE533B8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62BB6-9313-7B73-A50E-D14B1E25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40372-3045-7E7D-6A84-D0EFFD87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019C9-C629-A8C6-D1CA-6D569832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4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65E02-E80A-B5FC-957E-A2AE25270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1980C-726A-E2A8-1A93-4B6FF1E1E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8DF2B-DA30-B805-5555-18A07AEC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9B4D1-FF0C-30AF-017F-385585B1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ACF62-D4B9-161A-8D48-17C8F823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AA6F2-5697-12EF-D4E3-D1D1B9F9C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9B75-D0DA-D303-3571-12CC0E34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9492-1F4B-D88F-B571-67B8978AF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31A76-A451-4045-945E-2C931E8AF2B5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25C44-396A-0FCD-0CA9-58F8D98F5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18600-C115-2104-2C9F-BB2BDECF6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FF449-248E-194C-8691-D9A8AEA6A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6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ealthdata.org/gb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aint world map Vectors - Download Free High-Quality Vectors from Freepik |  Freepik">
            <a:extLst>
              <a:ext uri="{FF2B5EF4-FFF2-40B4-BE49-F238E27FC236}">
                <a16:creationId xmlns:a16="http://schemas.microsoft.com/office/drawing/2014/main" id="{B09C613C-50DB-61A1-199B-9D6913C4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8" b="8146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31410-C5C4-1E44-D7B9-CCC1E7E09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5100" b="1">
                <a:solidFill>
                  <a:srgbClr val="FFFFFF"/>
                </a:solidFill>
              </a:rPr>
              <a:t>GLOBAL MORTALITY PATTERNS: </a:t>
            </a:r>
            <a:br>
              <a:rPr lang="en-US" sz="5100" b="1">
                <a:solidFill>
                  <a:srgbClr val="FFFFFF"/>
                </a:solidFill>
              </a:rPr>
            </a:br>
            <a:r>
              <a:rPr lang="en-US" sz="5100" b="1">
                <a:solidFill>
                  <a:srgbClr val="FFFFFF"/>
                </a:solidFill>
              </a:rPr>
              <a:t>TRENDS, AGE GROUPS, AND COUNTRY DIFFERENCES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A4E74-1931-11DD-6291-BEDBC131E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Pappula Madhusudhan Reddy</a:t>
            </a:r>
          </a:p>
          <a:p>
            <a:r>
              <a:rPr lang="en-US" sz="1700">
                <a:solidFill>
                  <a:srgbClr val="FFFFFF"/>
                </a:solidFill>
              </a:rPr>
              <a:t>MIS 7397 - Data Visualization</a:t>
            </a:r>
          </a:p>
          <a:p>
            <a:r>
              <a:rPr lang="en-US" sz="1700">
                <a:solidFill>
                  <a:srgbClr val="FFFFFF"/>
                </a:solidFill>
              </a:rPr>
              <a:t>March 9, 2026</a:t>
            </a:r>
          </a:p>
        </p:txBody>
      </p:sp>
    </p:spTree>
    <p:extLst>
      <p:ext uri="{BB962C8B-B14F-4D97-AF65-F5344CB8AC3E}">
        <p14:creationId xmlns:p14="http://schemas.microsoft.com/office/powerpoint/2010/main" val="1778504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B2DE-E5C6-1E71-5735-5D022C4A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DB85-E405-DD45-D3A3-FD93105A3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Dataset Used</a:t>
            </a:r>
          </a:p>
          <a:p>
            <a:r>
              <a:rPr lang="en-US" sz="2200" dirty="0"/>
              <a:t>Source: Institute For Health Metrics And Evaluation (IHME) – Global burden of disease dataset.</a:t>
            </a:r>
          </a:p>
          <a:p>
            <a:r>
              <a:rPr lang="en-US" sz="2200" dirty="0"/>
              <a:t>Years covered: 1970 – 2010.</a:t>
            </a:r>
          </a:p>
          <a:p>
            <a:pPr marL="0" indent="0">
              <a:buNone/>
            </a:pPr>
            <a:r>
              <a:rPr lang="en-US" sz="2200" b="1" dirty="0"/>
              <a:t>Key Variables</a:t>
            </a:r>
          </a:p>
          <a:p>
            <a:r>
              <a:rPr lang="en-US" sz="2200" dirty="0"/>
              <a:t>Country</a:t>
            </a:r>
          </a:p>
          <a:p>
            <a:r>
              <a:rPr lang="en-US" sz="2200" dirty="0"/>
              <a:t>Year</a:t>
            </a:r>
          </a:p>
          <a:p>
            <a:r>
              <a:rPr lang="en-US" sz="2200" dirty="0"/>
              <a:t>Age Group</a:t>
            </a:r>
          </a:p>
          <a:p>
            <a:r>
              <a:rPr lang="en-US" sz="2200" dirty="0"/>
              <a:t>Death Rate per 100,000 people</a:t>
            </a:r>
          </a:p>
          <a:p>
            <a:r>
              <a:rPr lang="en-US" sz="2200" dirty="0"/>
              <a:t>Sex</a:t>
            </a:r>
          </a:p>
          <a:p>
            <a:pPr marL="0" indent="0">
              <a:buNone/>
            </a:pPr>
            <a:r>
              <a:rPr lang="en-US" sz="2200" b="1" dirty="0"/>
              <a:t>Purpose Of Analysis</a:t>
            </a:r>
          </a:p>
          <a:p>
            <a:pPr marL="0" indent="0">
              <a:buNone/>
            </a:pPr>
            <a:r>
              <a:rPr lang="en-US" sz="2200" dirty="0"/>
              <a:t>To explore global mortality trends, demographic differences, and geographic disparities.</a:t>
            </a:r>
          </a:p>
        </p:txBody>
      </p:sp>
    </p:spTree>
    <p:extLst>
      <p:ext uri="{BB962C8B-B14F-4D97-AF65-F5344CB8AC3E}">
        <p14:creationId xmlns:p14="http://schemas.microsoft.com/office/powerpoint/2010/main" val="315127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687D3-1199-180D-D61B-6E6FA733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MORTALITY TREND OVER TIME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EE9ED-0885-CC1F-D7CB-F52D41386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dirty="0"/>
              <a:t>Insight: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Global mortality rates declined by roughly 50% between 1970 and 2010.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This represents a major improvement in public health, medicine, and disease control.</a:t>
            </a:r>
          </a:p>
        </p:txBody>
      </p:sp>
      <p:pic>
        <p:nvPicPr>
          <p:cNvPr id="8" name="Content Placeholder 7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C1361FB3-2597-97FE-1627-126918B39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779698"/>
            <a:ext cx="6903720" cy="529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9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F4A05-655F-08A3-A38C-5221DB0C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MORTALITY BY AGE GROUP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D89B22-E75A-9E18-DF11-EDF689C6A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" b="3201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71C96-14E4-F3B2-E118-5ABFD10A4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/>
              <a:t>Insight</a:t>
            </a:r>
          </a:p>
          <a:p>
            <a:r>
              <a:rPr lang="en-US" sz="2000" dirty="0"/>
              <a:t>Mortality follows a U-shaped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Highest among infants.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Lowest during childhood and adulthood.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Increases again among the elderly.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7073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BE4C0-29DB-4921-BC0B-03367C2A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b="1" dirty="0"/>
              <a:t>COUNTRIES WITH HIGHEST MORTALITY RATES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tent Placeholder 11">
            <a:extLst>
              <a:ext uri="{FF2B5EF4-FFF2-40B4-BE49-F238E27FC236}">
                <a16:creationId xmlns:a16="http://schemas.microsoft.com/office/drawing/2014/main" id="{80A7DF18-247C-32FB-4366-09A0D13B3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Insight</a:t>
            </a:r>
          </a:p>
          <a:p>
            <a:r>
              <a:rPr lang="en-US" sz="2000" dirty="0"/>
              <a:t>High mortality rates are concentrated in parts of Sub-Saharan Africa and South Asia.</a:t>
            </a:r>
          </a:p>
          <a:p>
            <a:r>
              <a:rPr lang="en-US" sz="2000" dirty="0"/>
              <a:t>The map supports the bar chart by showing that high mortality is geographically clustered, not random.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6" name="Content Placeholder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B81C8AA-AD3F-433F-1629-106104B3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720" y="517600"/>
            <a:ext cx="4319999" cy="2743200"/>
          </a:xfrm>
          <a:prstGeom prst="rect">
            <a:avLst/>
          </a:prstGeom>
        </p:spPr>
      </p:pic>
      <p:pic>
        <p:nvPicPr>
          <p:cNvPr id="8" name="Content Placeholder 7" descr="A map of the world&#10;&#10;AI-generated content may be incorrect.">
            <a:extLst>
              <a:ext uri="{FF2B5EF4-FFF2-40B4-BE49-F238E27FC236}">
                <a16:creationId xmlns:a16="http://schemas.microsoft.com/office/drawing/2014/main" id="{1C768687-7BF6-EBD8-AA1B-5950CEED4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20256" y="3458055"/>
            <a:ext cx="5138928" cy="268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4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13596-0030-2F70-B766-281A7E33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 dirty="0"/>
              <a:t>KEY TAKEAWAYS &amp; RECOMMENDATIONS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2CA2-25A8-21FE-D0E7-15FCE7E4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Key Takeaways</a:t>
            </a:r>
          </a:p>
          <a:p>
            <a:r>
              <a:rPr lang="en-US" sz="2200" dirty="0"/>
              <a:t>Global mortality declined from 1970 to 2010.</a:t>
            </a:r>
          </a:p>
          <a:p>
            <a:r>
              <a:rPr lang="en-US" sz="2200" dirty="0"/>
              <a:t>Mortality is highest among infants and the elderly.</a:t>
            </a:r>
          </a:p>
          <a:p>
            <a:r>
              <a:rPr lang="en-US" sz="2200" dirty="0"/>
              <a:t>Mortality rates vary significantly across countries and regions.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Recommendations To Stakeholders</a:t>
            </a:r>
          </a:p>
          <a:p>
            <a:r>
              <a:rPr lang="en-US" sz="2200" dirty="0"/>
              <a:t>Strengthen maternal and child healthcare programs.</a:t>
            </a:r>
          </a:p>
          <a:p>
            <a:r>
              <a:rPr lang="en-US" sz="2200" dirty="0"/>
              <a:t>Improve healthcare access in high-mortality countries.</a:t>
            </a:r>
          </a:p>
        </p:txBody>
      </p:sp>
    </p:spTree>
    <p:extLst>
      <p:ext uri="{BB962C8B-B14F-4D97-AF65-F5344CB8AC3E}">
        <p14:creationId xmlns:p14="http://schemas.microsoft.com/office/powerpoint/2010/main" val="29343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AC0D0-E634-1714-1690-80A0B0109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 b="1" dirty="0">
                <a:solidFill>
                  <a:srgbClr val="FFFFFF"/>
                </a:solidFill>
              </a:rPr>
              <a:t>LIMITATIONS &amp; REFERENCE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ED77-EF51-B7C0-9DD3-8559F8A9B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Limitations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 covers 1970 – 2010 only.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Country averages may hide regional differences.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 quality may vary across countries.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Reference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Institute For Health Metrics And Evaluation (IHME).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Global Burden Of Disease (GBD) Mortality Data. Seattle, WA: IHME, University Of Washington.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Dataset source: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https://www.healthdata.org/gbd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Course Material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015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299</Words>
  <Application>Microsoft Macintosh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GLOBAL MORTALITY PATTERNS:  TRENDS, AGE GROUPS, AND COUNTRY DIFFERENCES</vt:lpstr>
      <vt:lpstr>DATASET DESCRIPTION</vt:lpstr>
      <vt:lpstr>MORTALITY TREND OVER TIME</vt:lpstr>
      <vt:lpstr>MORTALITY BY AGE GROUP</vt:lpstr>
      <vt:lpstr>COUNTRIES WITH HIGHEST MORTALITY RATES</vt:lpstr>
      <vt:lpstr>KEY TAKEAWAYS &amp; RECOMMENDATIONS</vt:lpstr>
      <vt:lpstr>LIMITATIONS &amp;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Pappula, Madhusudhan Reddy</dc:creator>
  <cp:lastModifiedBy>Pappula, Madhusudhan Reddy</cp:lastModifiedBy>
  <cp:revision>5</cp:revision>
  <dcterms:created xsi:type="dcterms:W3CDTF">2026-03-09T17:17:04Z</dcterms:created>
  <dcterms:modified xsi:type="dcterms:W3CDTF">2026-03-12T00:44:44Z</dcterms:modified>
</cp:coreProperties>
</file>